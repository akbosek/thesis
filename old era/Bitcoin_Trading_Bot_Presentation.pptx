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Bitcoin Price Prediction Using Hybrid CNN-LSTM Ensemble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Optimizing Trading Strategies through Macro-Financial Data and Threshold Calibration</a:t>
            </a:r>
          </a:p>
          <a:p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029200" cy="5029200"/>
          </a:xfrm>
        </p:spPr>
        <p:txBody>
          <a:bodyPr/>
          <a:lstStyle/>
          <a:p/>
          <a:p>
            <a:pPr>
              <a:spcAft>
                <a:spcPts val="1000"/>
              </a:spcAft>
              <a:defRPr b="1" sz="1600"/>
            </a:pPr>
            <a:r>
              <a:t>The Challenge: 'Long Bias' &amp; Noise</a:t>
            </a:r>
          </a:p>
          <a:p>
            <a:pPr lvl="1">
              <a:spcAft>
                <a:spcPts val="1000"/>
              </a:spcAft>
              <a:defRPr sz="1600"/>
            </a:pPr>
            <a:r>
              <a:t>Problem: Bitcoin has a historical uptrend. Standard AI models become 'optimistic' and fail to predict crashes.</a:t>
            </a:r>
          </a:p>
          <a:p>
            <a:pPr lvl="1">
              <a:spcAft>
                <a:spcPts val="1000"/>
              </a:spcAft>
              <a:defRPr sz="1600"/>
            </a:pPr>
            <a:r>
              <a:t>Problem: Crypto markets contain high noise. Models struggle to distinguish signals from random fluctuations.</a:t>
            </a:r>
          </a:p>
          <a:p>
            <a:pPr>
              <a:spcAft>
                <a:spcPts val="1000"/>
              </a:spcAft>
              <a:defRPr b="1" sz="1600"/>
            </a:pPr>
            <a:r>
              <a:t>Our Solution:</a:t>
            </a:r>
          </a:p>
          <a:p>
            <a:pPr lvl="1">
              <a:spcAft>
                <a:spcPts val="1000"/>
              </a:spcAft>
              <a:defRPr sz="1600"/>
            </a:pPr>
            <a:r>
              <a:t>1. Hybrid Architecture (CNN-LSTM): Combining pattern recognition with trend following.</a:t>
            </a:r>
          </a:p>
          <a:p>
            <a:pPr lvl="1">
              <a:spcAft>
                <a:spcPts val="1000"/>
              </a:spcAft>
              <a:defRPr sz="1600"/>
            </a:pPr>
            <a:r>
              <a:t>2. Macro Data Injection: Using S&amp;P500, Oil, and VIX to provide context.</a:t>
            </a:r>
          </a:p>
          <a:p>
            <a:pPr lvl="1">
              <a:spcAft>
                <a:spcPts val="1000"/>
              </a:spcAft>
              <a:defRPr sz="1600"/>
            </a:pPr>
            <a:r>
              <a:t>3. Advanced Calibration: Asymmetric thresholds and class weights to force 'Short' predictions.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[PASTE ARCHITECTURE DIAGRAM OR DATA HEAD]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The 'Engine'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029200" cy="5029200"/>
          </a:xfrm>
        </p:spPr>
        <p:txBody>
          <a:bodyPr/>
          <a:lstStyle/>
          <a:p/>
          <a:p>
            <a:pPr>
              <a:spcAft>
                <a:spcPts val="1000"/>
              </a:spcAft>
              <a:defRPr b="1" sz="1600"/>
            </a:pPr>
            <a:r>
              <a:t>Engine: CNN-LSTM Hybrid</a:t>
            </a:r>
          </a:p>
          <a:p>
            <a:pPr lvl="1">
              <a:spcAft>
                <a:spcPts val="1000"/>
              </a:spcAft>
              <a:defRPr sz="1600"/>
            </a:pPr>
            <a:r>
              <a:t>Based on: Somayajulu et al. (2024)</a:t>
            </a:r>
          </a:p>
          <a:p>
            <a:pPr lvl="1">
              <a:spcAft>
                <a:spcPts val="1000"/>
              </a:spcAft>
              <a:defRPr sz="1600"/>
            </a:pPr>
            <a:r>
              <a:t>WHAT: We combined two neural networks.</a:t>
            </a:r>
          </a:p>
          <a:p>
            <a:pPr lvl="2">
              <a:spcAft>
                <a:spcPts val="1000"/>
              </a:spcAft>
              <a:defRPr sz="1600"/>
            </a:pPr>
            <a:r>
              <a:t>- CNN (Convolutional): Acts as a 'Technical Analyst'. It scans candle shapes and local patterns, filtering out noise.</a:t>
            </a:r>
          </a:p>
          <a:p>
            <a:pPr lvl="2">
              <a:spcAft>
                <a:spcPts val="1000"/>
              </a:spcAft>
              <a:defRPr sz="1600"/>
            </a:pPr>
            <a:r>
              <a:t>- LSTM (Long Short-Term Memory): Acts as a 'Strategic Investor'. It remembers 30-day sequences to identify broader trends.</a:t>
            </a:r>
          </a:p>
          <a:p>
            <a:pPr lvl="1">
              <a:spcAft>
                <a:spcPts val="1000"/>
              </a:spcAft>
              <a:defRPr sz="1600"/>
            </a:pPr>
            <a:r>
              <a:t>EFFECT: The model is resistant to sudden 'wicks' and price spikes, focusing on sustained momentum.</a:t>
            </a:r>
          </a:p>
          <a:p>
            <a:pPr>
              <a:spcAft>
                <a:spcPts val="1000"/>
              </a:spcAft>
              <a:defRPr b="1" sz="1600"/>
            </a:pPr>
            <a:r>
              <a:t>Ensemble Learning:</a:t>
            </a:r>
          </a:p>
          <a:p>
            <a:pPr lvl="1">
              <a:spcAft>
                <a:spcPts val="1000"/>
              </a:spcAft>
              <a:defRPr sz="1600"/>
            </a:pPr>
            <a:r>
              <a:t>We train 5 independent models and average their votes. This 'Wisdom of the Crowd' reduces variance and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[PASTE MODEL SUMMARY OR CODE SNIPPET]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The 'Fuel'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029200" cy="5029200"/>
          </a:xfrm>
        </p:spPr>
        <p:txBody>
          <a:bodyPr/>
          <a:lstStyle/>
          <a:p/>
          <a:p>
            <a:pPr>
              <a:spcAft>
                <a:spcPts val="1000"/>
              </a:spcAft>
              <a:defRPr b="1" sz="1600"/>
            </a:pPr>
            <a:r>
              <a:t>Fuel: Macro-Financial Data</a:t>
            </a:r>
          </a:p>
          <a:p>
            <a:pPr lvl="1">
              <a:spcAft>
                <a:spcPts val="1000"/>
              </a:spcAft>
              <a:defRPr sz="1600"/>
            </a:pPr>
            <a:r>
              <a:t>Based on: Parim et al. (2024)</a:t>
            </a:r>
          </a:p>
          <a:p>
            <a:pPr lvl="1">
              <a:spcAft>
                <a:spcPts val="1000"/>
              </a:spcAft>
              <a:defRPr sz="1600"/>
            </a:pPr>
            <a:r>
              <a:t>WHY: Bitcoin does not exist in a vacuum. It correlates with global liquidity.</a:t>
            </a:r>
          </a:p>
          <a:p>
            <a:pPr lvl="1">
              <a:spcAft>
                <a:spcPts val="1000"/>
              </a:spcAft>
              <a:defRPr sz="1600"/>
            </a:pPr>
            <a:r>
              <a:t>Added Features:</a:t>
            </a:r>
          </a:p>
          <a:p>
            <a:pPr lvl="2">
              <a:spcAft>
                <a:spcPts val="1000"/>
              </a:spcAft>
              <a:defRPr sz="1600"/>
            </a:pPr>
            <a:r>
              <a:t>- VIX (Fear Index): Measures market panic. High VIX often precedes crypto dumps.</a:t>
            </a:r>
          </a:p>
          <a:p>
            <a:pPr lvl="2">
              <a:spcAft>
                <a:spcPts val="1000"/>
              </a:spcAft>
              <a:defRPr sz="1600"/>
            </a:pPr>
            <a:r>
              <a:t>- S&amp;P 500 &amp; NASDAQ: Captures correlation with traditional equities.</a:t>
            </a:r>
          </a:p>
          <a:p>
            <a:pPr lvl="2">
              <a:spcAft>
                <a:spcPts val="1000"/>
              </a:spcAft>
              <a:defRPr sz="1600"/>
            </a:pPr>
            <a:r>
              <a:t>- Crude Oil (WTI): Proxy for inflation and global energy costs.</a:t>
            </a:r>
          </a:p>
          <a:p>
            <a:pPr lvl="1">
              <a:spcAft>
                <a:spcPts val="1000"/>
              </a:spcAft>
              <a:defRPr sz="1600"/>
            </a:pPr>
            <a:r>
              <a:t>EFFECT: The model can anticipate moves based on external shocks, not just past prices.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[PASTE DATA CORRELATION MATRIX OR HEAD]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A: The Optimal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029200" cy="5029200"/>
          </a:xfrm>
        </p:spPr>
        <p:txBody>
          <a:bodyPr/>
          <a:lstStyle/>
          <a:p/>
          <a:p>
            <a:pPr>
              <a:spcAft>
                <a:spcPts val="1000"/>
              </a:spcAft>
              <a:defRPr b="1" sz="1600"/>
            </a:pPr>
            <a:r>
              <a:t>Experiment A: The 'Golden Mean' (Optimal)</a:t>
            </a:r>
          </a:p>
          <a:p>
            <a:pPr lvl="1">
              <a:spcAft>
                <a:spcPts val="1000"/>
              </a:spcAft>
              <a:defRPr sz="1600"/>
            </a:pPr>
            <a:r>
              <a:t>Configuration:</a:t>
            </a:r>
          </a:p>
          <a:p>
            <a:pPr lvl="2">
              <a:spcAft>
                <a:spcPts val="1000"/>
              </a:spcAft>
              <a:defRPr sz="1600"/>
            </a:pPr>
            <a:r>
              <a:t>- Manual Thresholds: Long &gt; 0.55 | Short &lt; 0.48</a:t>
            </a:r>
          </a:p>
          <a:p>
            <a:pPr lvl="2">
              <a:spcAft>
                <a:spcPts val="1000"/>
              </a:spcAft>
              <a:defRPr sz="1600"/>
            </a:pPr>
            <a:r>
              <a:t>- Class Weights: 1.3 (Balanced penalty)</a:t>
            </a:r>
          </a:p>
          <a:p>
            <a:pPr lvl="1">
              <a:spcAft>
                <a:spcPts val="1000"/>
              </a:spcAft>
              <a:defRPr sz="1600"/>
            </a:pPr>
            <a:r>
              <a:t>Results:</a:t>
            </a:r>
          </a:p>
          <a:p>
            <a:pPr lvl="2">
              <a:spcAft>
                <a:spcPts val="1000"/>
              </a:spcAft>
              <a:defRPr sz="1600"/>
            </a:pPr>
            <a:r>
              <a:t>- Validation Win Rate: ~58.75%</a:t>
            </a:r>
          </a:p>
          <a:p>
            <a:pPr lvl="2">
              <a:spcAft>
                <a:spcPts val="1000"/>
              </a:spcAft>
              <a:defRPr sz="1600"/>
            </a:pPr>
            <a:r>
              <a:t>- Sharpe Ratio: 0.79</a:t>
            </a:r>
          </a:p>
          <a:p>
            <a:pPr lvl="2">
              <a:spcAft>
                <a:spcPts val="1000"/>
              </a:spcAft>
              <a:defRPr sz="1600"/>
            </a:pPr>
            <a:r>
              <a:t>- Action Rate: ~11% (80 trades)</a:t>
            </a:r>
          </a:p>
          <a:p>
            <a:pPr lvl="1">
              <a:spcAft>
                <a:spcPts val="1000"/>
              </a:spcAft>
              <a:defRPr sz="1600"/>
            </a:pPr>
            <a:r>
              <a:t>Analysis:</a:t>
            </a:r>
          </a:p>
          <a:p>
            <a:pPr lvl="2">
              <a:spcAft>
                <a:spcPts val="1000"/>
              </a:spcAft>
              <a:defRPr sz="1600"/>
            </a:pPr>
            <a:r>
              <a:t>This configuration offers the best balance. The Equity Curve is smooth, and the model trades frequently enough to be profitable without over-trading.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[PASTE GRAPHS FROM 'DOBRY' FOLDER:</a:t>
            </a:r>
          </a:p>
          <a:p>
            <a:r>
              <a:t>Equity, Signals, Hist, Matrix]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B: The 'Sniper'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029200" cy="5029200"/>
          </a:xfrm>
        </p:spPr>
        <p:txBody>
          <a:bodyPr/>
          <a:lstStyle/>
          <a:p/>
          <a:p>
            <a:pPr>
              <a:spcAft>
                <a:spcPts val="1000"/>
              </a:spcAft>
              <a:defRPr b="1" sz="1600"/>
            </a:pPr>
            <a:r>
              <a:t>Experiment B: The 'Sniper' Approach</a:t>
            </a:r>
          </a:p>
          <a:p>
            <a:pPr lvl="1">
              <a:spcAft>
                <a:spcPts val="1000"/>
              </a:spcAft>
              <a:defRPr sz="1600"/>
            </a:pPr>
            <a:r>
              <a:t>Configuration:</a:t>
            </a:r>
          </a:p>
          <a:p>
            <a:pPr lvl="2">
              <a:spcAft>
                <a:spcPts val="1000"/>
              </a:spcAft>
              <a:defRPr sz="1600"/>
            </a:pPr>
            <a:r>
              <a:t>- Wide Dead Zone (Very strict confidence required)</a:t>
            </a:r>
          </a:p>
          <a:p>
            <a:pPr lvl="2">
              <a:spcAft>
                <a:spcPts val="1000"/>
              </a:spcAft>
              <a:defRPr sz="1600"/>
            </a:pPr>
            <a:r>
              <a:t>- Strong L2 Regularization (0.0001)</a:t>
            </a:r>
          </a:p>
          <a:p>
            <a:pPr lvl="1">
              <a:spcAft>
                <a:spcPts val="1000"/>
              </a:spcAft>
              <a:defRPr sz="1600"/>
            </a:pPr>
            <a:r>
              <a:t>Results:</a:t>
            </a:r>
          </a:p>
          <a:p>
            <a:pPr lvl="2">
              <a:spcAft>
                <a:spcPts val="1000"/>
              </a:spcAft>
              <a:defRPr sz="1600"/>
            </a:pPr>
            <a:r>
              <a:t>- Validation Win Rate: 60.00% (Highest Accuracy)</a:t>
            </a:r>
          </a:p>
          <a:p>
            <a:pPr lvl="2">
              <a:spcAft>
                <a:spcPts val="1000"/>
              </a:spcAft>
              <a:defRPr sz="1600"/>
            </a:pPr>
            <a:r>
              <a:t>- Action Rate: 5.71% (Only ~40 trades)</a:t>
            </a:r>
          </a:p>
          <a:p>
            <a:pPr lvl="1">
              <a:spcAft>
                <a:spcPts val="1000"/>
              </a:spcAft>
              <a:defRPr sz="1600"/>
            </a:pPr>
            <a:r>
              <a:t>Analysis:</a:t>
            </a:r>
          </a:p>
          <a:p>
            <a:pPr lvl="2">
              <a:spcAft>
                <a:spcPts val="1000"/>
              </a:spcAft>
              <a:defRPr sz="1600"/>
            </a:pPr>
            <a:r>
              <a:t>High precision, but too passive. Proves the model can identify high-probability setups, but misses many opportunities.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[PASTE GRAPHS FROM '60%' FOLDER]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C: Forcing Shorts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029200" cy="5029200"/>
          </a:xfrm>
        </p:spPr>
        <p:txBody>
          <a:bodyPr/>
          <a:lstStyle/>
          <a:p/>
          <a:p>
            <a:pPr>
              <a:spcAft>
                <a:spcPts val="1000"/>
              </a:spcAft>
              <a:defRPr b="1" sz="1600"/>
            </a:pPr>
            <a:r>
              <a:t>Experiment C: Stress Test (Forcing Shorts)</a:t>
            </a:r>
          </a:p>
          <a:p>
            <a:pPr lvl="1">
              <a:spcAft>
                <a:spcPts val="1000"/>
              </a:spcAft>
              <a:defRPr sz="1600"/>
            </a:pPr>
            <a:r>
              <a:t>Configuration:</a:t>
            </a:r>
          </a:p>
          <a:p>
            <a:pPr lvl="2">
              <a:spcAft>
                <a:spcPts val="1000"/>
              </a:spcAft>
              <a:defRPr sz="1600"/>
            </a:pPr>
            <a:r>
              <a:t>- Aggressive Class Weights (Boosted Short importance)</a:t>
            </a:r>
          </a:p>
          <a:p>
            <a:pPr lvl="2">
              <a:spcAft>
                <a:spcPts val="1000"/>
              </a:spcAft>
              <a:defRPr sz="1600"/>
            </a:pPr>
            <a:r>
              <a:t>- Lowered Thresholds to force activity</a:t>
            </a:r>
          </a:p>
          <a:p>
            <a:pPr lvl="1">
              <a:spcAft>
                <a:spcPts val="1000"/>
              </a:spcAft>
              <a:defRPr sz="1600"/>
            </a:pPr>
            <a:r>
              <a:t>Results:</a:t>
            </a:r>
          </a:p>
          <a:p>
            <a:pPr lvl="2">
              <a:spcAft>
                <a:spcPts val="1000"/>
              </a:spcAft>
              <a:defRPr sz="1600"/>
            </a:pPr>
            <a:r>
              <a:t>- Action Rate: 58.29% (Over-trading)</a:t>
            </a:r>
          </a:p>
          <a:p>
            <a:pPr lvl="2">
              <a:spcAft>
                <a:spcPts val="1000"/>
              </a:spcAft>
              <a:defRPr sz="1600"/>
            </a:pPr>
            <a:r>
              <a:t>- Win Rate: 52.70% (Drop in quality)</a:t>
            </a:r>
          </a:p>
          <a:p>
            <a:pPr lvl="1">
              <a:spcAft>
                <a:spcPts val="1000"/>
              </a:spcAft>
              <a:defRPr sz="1600"/>
            </a:pPr>
            <a:r>
              <a:t>Analysis:</a:t>
            </a:r>
          </a:p>
          <a:p>
            <a:pPr lvl="2">
              <a:spcAft>
                <a:spcPts val="1000"/>
              </a:spcAft>
              <a:defRPr sz="1600"/>
            </a:pPr>
            <a:r>
              <a:t>Proves we CAN force the model to short against the trend, but 'Quantity != Quality'. Fighting the trend reduces the Sharpe Ratio.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[PASTE GRAPHS FROM 'SHORTY' FOLDER]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 D: Auto-Calibrated Stability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029200" cy="5029200"/>
          </a:xfrm>
        </p:spPr>
        <p:txBody>
          <a:bodyPr/>
          <a:lstStyle/>
          <a:p/>
          <a:p>
            <a:pPr>
              <a:spcAft>
                <a:spcPts val="1000"/>
              </a:spcAft>
              <a:defRPr b="1" sz="1600"/>
            </a:pPr>
            <a:r>
              <a:t>Experiment D: Auto-Calibrated Baseline</a:t>
            </a:r>
          </a:p>
          <a:p>
            <a:pPr lvl="1">
              <a:spcAft>
                <a:spcPts val="1000"/>
              </a:spcAft>
              <a:defRPr sz="1600"/>
            </a:pPr>
            <a:r>
              <a:t>Configuration:</a:t>
            </a:r>
          </a:p>
          <a:p>
            <a:pPr lvl="2">
              <a:spcAft>
                <a:spcPts val="1000"/>
              </a:spcAft>
              <a:defRPr sz="1600"/>
            </a:pPr>
            <a:r>
              <a:t>- Dynamic Median Calibration (Model finds its own zero-point)</a:t>
            </a:r>
          </a:p>
          <a:p>
            <a:pPr lvl="1">
              <a:spcAft>
                <a:spcPts val="1000"/>
              </a:spcAft>
              <a:defRPr sz="1600"/>
            </a:pPr>
            <a:r>
              <a:t>Results:</a:t>
            </a:r>
          </a:p>
          <a:p>
            <a:pPr lvl="2">
              <a:spcAft>
                <a:spcPts val="1000"/>
              </a:spcAft>
              <a:defRPr sz="1600"/>
            </a:pPr>
            <a:r>
              <a:t>- Win Rate: 56.32%</a:t>
            </a:r>
          </a:p>
          <a:p>
            <a:pPr lvl="2">
              <a:spcAft>
                <a:spcPts val="1000"/>
              </a:spcAft>
              <a:defRPr sz="1600"/>
            </a:pPr>
            <a:r>
              <a:t>- Sharpe Ratio: 0.94 (Excellent Risk/Reward)</a:t>
            </a:r>
          </a:p>
          <a:p>
            <a:pPr lvl="1">
              <a:spcAft>
                <a:spcPts val="1000"/>
              </a:spcAft>
              <a:defRPr sz="1600"/>
            </a:pPr>
            <a:r>
              <a:t>Analysis:</a:t>
            </a:r>
          </a:p>
          <a:p>
            <a:pPr lvl="2">
              <a:spcAft>
                <a:spcPts val="1000"/>
              </a:spcAft>
              <a:defRPr sz="1600"/>
            </a:pPr>
            <a:r>
              <a:t>Zero overfitting (Train ~ Val). The safest 'set-and-forget'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[PASTE GRAPHS FROM '56%' FOLDER]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Breakthrough: Solving Long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029200" cy="5029200"/>
          </a:xfrm>
        </p:spPr>
        <p:txBody>
          <a:bodyPr/>
          <a:lstStyle/>
          <a:p/>
          <a:p>
            <a:pPr>
              <a:spcAft>
                <a:spcPts val="1000"/>
              </a:spcAft>
              <a:defRPr b="1" sz="1600"/>
            </a:pPr>
            <a:r>
              <a:t>The Problem:</a:t>
            </a:r>
          </a:p>
          <a:p>
            <a:pPr lvl="1">
              <a:spcAft>
                <a:spcPts val="1000"/>
              </a:spcAft>
              <a:defRPr sz="1600"/>
            </a:pPr>
            <a:r>
              <a:t>Neural Networks are optimistic about Bitcoin. Median prediction &gt; 0.50. A standard threshold results in ZERO Shorts.</a:t>
            </a:r>
          </a:p>
          <a:p>
            <a:pPr>
              <a:spcAft>
                <a:spcPts val="1000"/>
              </a:spcAft>
              <a:defRPr b="1" sz="1600"/>
            </a:pPr>
            <a:r>
              <a:t>The Solution: Asymmetric Thresholding</a:t>
            </a:r>
          </a:p>
          <a:p>
            <a:pPr lvl="1">
              <a:spcAft>
                <a:spcPts val="1000"/>
              </a:spcAft>
              <a:defRPr sz="1600"/>
            </a:pPr>
            <a:r>
              <a:t>We decoupled the decision logic:</a:t>
            </a:r>
          </a:p>
          <a:p>
            <a:pPr lvl="2">
              <a:spcAft>
                <a:spcPts val="1000"/>
              </a:spcAft>
              <a:defRPr sz="1600"/>
            </a:pPr>
            <a:r>
              <a:t>- LONG Condition: Confidence &gt; 0.55 (Harder)</a:t>
            </a:r>
          </a:p>
          <a:p>
            <a:pPr lvl="2">
              <a:spcAft>
                <a:spcPts val="1000"/>
              </a:spcAft>
              <a:defRPr sz="1600"/>
            </a:pPr>
            <a:r>
              <a:t>- SHORT Condition: Confidence &lt; 0.48 (Easier)</a:t>
            </a:r>
          </a:p>
          <a:p>
            <a:pPr lvl="1">
              <a:spcAft>
                <a:spcPts val="1000"/>
              </a:spcAft>
              <a:defRPr sz="1600"/>
            </a:pPr>
            <a:r>
              <a:t>Effect:</a:t>
            </a:r>
          </a:p>
          <a:p>
            <a:pPr lvl="2">
              <a:spcAft>
                <a:spcPts val="1000"/>
              </a:spcAft>
              <a:defRPr sz="1600"/>
            </a:pPr>
            <a:r>
              <a:t>We 'tricked' the model's optimism. By lowering the Short bar, we captured downturns even when the model wasn't 100% bearish.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[PASTE HISTOGRAM SHOWING SHIFT]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029200" cy="5029200"/>
          </a:xfrm>
        </p:spPr>
        <p:txBody>
          <a:bodyPr/>
          <a:lstStyle/>
          <a:p/>
          <a:p>
            <a:pPr>
              <a:spcAft>
                <a:spcPts val="1000"/>
              </a:spcAft>
              <a:defRPr b="1" sz="1600"/>
            </a:pPr>
            <a:r>
              <a:t>Summary:</a:t>
            </a:r>
          </a:p>
          <a:p>
            <a:pPr lvl="1">
              <a:spcAft>
                <a:spcPts val="1000"/>
              </a:spcAft>
              <a:defRPr sz="1600"/>
            </a:pPr>
            <a:r>
              <a:t>Successfully built a profitable AI trading bot (Sharpe &gt; 0.80) that outperforms random chance.</a:t>
            </a:r>
          </a:p>
          <a:p>
            <a:pPr>
              <a:spcAft>
                <a:spcPts val="1000"/>
              </a:spcAft>
              <a:defRPr b="1" sz="1600"/>
            </a:pPr>
            <a:r>
              <a:t>Key Findings:</a:t>
            </a:r>
          </a:p>
          <a:p>
            <a:pPr lvl="1">
              <a:spcAft>
                <a:spcPts val="1000"/>
              </a:spcAft>
              <a:defRPr sz="1600"/>
            </a:pPr>
            <a:r>
              <a:t>1. Macro Data Matters: VIX and SP500 improved signal quality [Parim et al.].</a:t>
            </a:r>
          </a:p>
          <a:p>
            <a:pPr lvl="1">
              <a:spcAft>
                <a:spcPts val="1000"/>
              </a:spcAft>
              <a:defRPr sz="1600"/>
            </a:pPr>
            <a:r>
              <a:t>2. Logic &gt; Architecture: Tuning thresholds had a bigger impact than adding neurons.</a:t>
            </a:r>
          </a:p>
          <a:p>
            <a:pPr lvl="1">
              <a:spcAft>
                <a:spcPts val="1000"/>
              </a:spcAft>
              <a:defRPr sz="1600"/>
            </a:pPr>
            <a:r>
              <a:t>3. The 'Golden Mean' configuration provides the most viable live-trading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>
                <a:solidFill>
                  <a:srgbClr val="969696"/>
                </a:solidFill>
              </a:defRPr>
            </a:pPr>
            <a:r>
              <a:t>[PASTE SUMMARY TABLE OR GRAPH]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71600"/>
            <a:ext cx="3200400" cy="4114800"/>
          </a:xfrm>
          <a:prstGeom prst="rect">
            <a:avLst/>
          </a:prstGeom>
          <a:noFill/>
          <a:ln w="19050"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