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Bitcoin Price Prediction Using Hybrid CNN-LSTM Ensemble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Optimizing Trading Strategies through Macro-Financial Data and Threshold Calibration</a:t>
            </a:r>
          </a:p>
          <a:p/>
          <a:p>
            <a:r>
              <a:t>Author: [Twoje Imię]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Theoretical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54864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Based on Research Papers:</a:t>
            </a:r>
          </a:p>
          <a:p>
            <a:pPr>
              <a:spcAft>
                <a:spcPts val="800"/>
              </a:spcAft>
              <a:defRPr sz="1600"/>
            </a:pPr>
            <a:r>
              <a:t>1. Parim et al. (2024): Demonstrated that Bitcoin is driven by macro factors.</a:t>
            </a:r>
          </a:p>
          <a:p>
            <a:pPr>
              <a:spcAft>
                <a:spcPts val="800"/>
              </a:spcAft>
              <a:defRPr sz="1600"/>
            </a:pPr>
            <a:r>
              <a:t>   - Implemented: VIX (Fear Index), S&amp;P 500, NASDAQ, Oil added to dataset.</a:t>
            </a:r>
          </a:p>
          <a:p>
            <a:pPr>
              <a:spcAft>
                <a:spcPts val="800"/>
              </a:spcAft>
              <a:defRPr sz="1600"/>
            </a:pPr>
            <a:r>
              <a:t>2. Somayajulu et al. (2024): Proposed CNN-LSTM Hybrid.</a:t>
            </a:r>
          </a:p>
          <a:p>
            <a:pPr>
              <a:spcAft>
                <a:spcPts val="800"/>
              </a:spcAft>
              <a:defRPr sz="1600"/>
            </a:pPr>
            <a:r>
              <a:t>   - Implemented: 1D Convolution (feature extraction) -&gt; LSTM (sequence).</a:t>
            </a:r>
          </a:p>
          <a:p>
            <a:pPr>
              <a:spcAft>
                <a:spcPts val="800"/>
              </a:spcAft>
              <a:defRPr sz="1600"/>
            </a:pPr>
            <a:r>
              <a:t>   - Adopted 'Adam' optimizer and Dropout layers for stability.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[PASTE ARCHITECTURE DIAGRAM OR DATA HEAD]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A: The 'Golden Mean' (Optimal)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54864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Experiment A: The 'Golden Mean' (Optimal)</a:t>
            </a:r>
          </a:p>
          <a:p>
            <a:pPr>
              <a:spcAft>
                <a:spcPts val="800"/>
              </a:spcAft>
              <a:defRPr sz="1600"/>
            </a:pPr>
            <a:r>
              <a:t>Based on file: dobry.txt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Configuration:</a:t>
            </a:r>
          </a:p>
          <a:p>
            <a:pPr>
              <a:spcAft>
                <a:spcPts val="800"/>
              </a:spcAft>
              <a:defRPr sz="1600"/>
            </a:pPr>
            <a:r>
              <a:t>- Manual Thresholds: Long &gt; 0.55 | Short &lt; 0.48</a:t>
            </a:r>
          </a:p>
          <a:p>
            <a:pPr>
              <a:spcAft>
                <a:spcPts val="800"/>
              </a:spcAft>
              <a:defRPr sz="1600"/>
            </a:pPr>
            <a:r>
              <a:t>- Class Weights: 1.3 (Balanced approach)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Results:</a:t>
            </a:r>
          </a:p>
          <a:p>
            <a:pPr>
              <a:spcAft>
                <a:spcPts val="800"/>
              </a:spcAft>
              <a:defRPr sz="1600"/>
            </a:pPr>
            <a:r>
              <a:t>- Validation Win Rate: 58.75%</a:t>
            </a:r>
          </a:p>
          <a:p>
            <a:pPr>
              <a:spcAft>
                <a:spcPts val="800"/>
              </a:spcAft>
              <a:defRPr sz="1600"/>
            </a:pPr>
            <a:r>
              <a:t>- Sharpe Ratio: 0.79</a:t>
            </a:r>
          </a:p>
          <a:p>
            <a:pPr>
              <a:spcAft>
                <a:spcPts val="800"/>
              </a:spcAft>
              <a:defRPr sz="1600"/>
            </a:pPr>
            <a:r>
              <a:t>- Action Rate: 11.43% (80 trades)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Conclusion: Best balance between profit stability and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[PASTE 4 GRAPHS FROM 'DOBRY' FOLDER]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B: The 'Sniper' Approach (Precision)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54864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Experiment B: The 'Sniper' Approach</a:t>
            </a:r>
          </a:p>
          <a:p>
            <a:pPr>
              <a:spcAft>
                <a:spcPts val="800"/>
              </a:spcAft>
              <a:defRPr sz="1600"/>
            </a:pPr>
            <a:r>
              <a:t>Based on file: 60% wr.txt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Configuration:</a:t>
            </a:r>
          </a:p>
          <a:p>
            <a:pPr>
              <a:spcAft>
                <a:spcPts val="800"/>
              </a:spcAft>
              <a:defRPr sz="1600"/>
            </a:pPr>
            <a:r>
              <a:t>- Wide Dead Zone (Strict confidence required)</a:t>
            </a:r>
          </a:p>
          <a:p>
            <a:pPr>
              <a:spcAft>
                <a:spcPts val="800"/>
              </a:spcAft>
              <a:defRPr sz="1600"/>
            </a:pPr>
            <a:r>
              <a:t>- Strong L2 Regularization (0.0001)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Results:</a:t>
            </a:r>
          </a:p>
          <a:p>
            <a:pPr>
              <a:spcAft>
                <a:spcPts val="800"/>
              </a:spcAft>
              <a:defRPr sz="1600"/>
            </a:pPr>
            <a:r>
              <a:t>- Validation Win Rate: 60.00% (Highest Accuracy)</a:t>
            </a:r>
          </a:p>
          <a:p>
            <a:pPr>
              <a:spcAft>
                <a:spcPts val="800"/>
              </a:spcAft>
              <a:defRPr sz="1600"/>
            </a:pPr>
            <a:r>
              <a:t>- Action Rate: 5.71% (Only ~40 trades)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Analysis:</a:t>
            </a:r>
          </a:p>
          <a:p>
            <a:pPr>
              <a:spcAft>
                <a:spcPts val="800"/>
              </a:spcAft>
              <a:defRPr sz="1600"/>
            </a:pPr>
            <a:r>
              <a:t>- Extremely precise but too passive for active trading.</a:t>
            </a:r>
          </a:p>
          <a:p>
            <a:pPr>
              <a:spcAft>
                <a:spcPts val="800"/>
              </a:spcAft>
              <a:defRPr sz="1600"/>
            </a:pPr>
            <a:r>
              <a:t>- Proves the model can identify high-probability setups.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[PASTE GRAPHS FROM '60%' FOLDER]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C: Forcing Shorts (Stress Test)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54864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Experiment C: Forcing Short Positions</a:t>
            </a:r>
          </a:p>
          <a:p>
            <a:pPr>
              <a:spcAft>
                <a:spcPts val="800"/>
              </a:spcAft>
              <a:defRPr sz="1600"/>
            </a:pPr>
            <a:r>
              <a:t>Based on file: shorty.txt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Configuration:</a:t>
            </a:r>
          </a:p>
          <a:p>
            <a:pPr>
              <a:spcAft>
                <a:spcPts val="800"/>
              </a:spcAft>
              <a:defRPr sz="1600"/>
            </a:pPr>
            <a:r>
              <a:t>- Aggressive Class Weights (Boosted Short importance)</a:t>
            </a:r>
          </a:p>
          <a:p>
            <a:pPr>
              <a:spcAft>
                <a:spcPts val="800"/>
              </a:spcAft>
              <a:defRPr sz="1600"/>
            </a:pPr>
            <a:r>
              <a:t>- Lowered Thresholds to force activity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Results:</a:t>
            </a:r>
          </a:p>
          <a:p>
            <a:pPr>
              <a:spcAft>
                <a:spcPts val="800"/>
              </a:spcAft>
              <a:defRPr sz="1600"/>
            </a:pPr>
            <a:r>
              <a:t>- Action Rate: 58.29% (High Activity / Over-trading)</a:t>
            </a:r>
          </a:p>
          <a:p>
            <a:pPr>
              <a:spcAft>
                <a:spcPts val="800"/>
              </a:spcAft>
              <a:defRPr sz="1600"/>
            </a:pPr>
            <a:r>
              <a:t>- Validation Win Rate: 52.70%</a:t>
            </a:r>
          </a:p>
          <a:p>
            <a:pPr>
              <a:spcAft>
                <a:spcPts val="800"/>
              </a:spcAft>
              <a:defRPr sz="1600"/>
            </a:pPr>
            <a:r>
              <a:t>- Sharpe Ratio: 0.38 (High volatility)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Analysis:</a:t>
            </a:r>
          </a:p>
          <a:p>
            <a:pPr>
              <a:spcAft>
                <a:spcPts val="800"/>
              </a:spcAft>
              <a:defRPr sz="1600"/>
            </a:pPr>
            <a:r>
              <a:t>- Proves we CAN force the model to short against the trend.</a:t>
            </a:r>
          </a:p>
          <a:p>
            <a:pPr>
              <a:spcAft>
                <a:spcPts val="800"/>
              </a:spcAft>
              <a:defRPr sz="1600"/>
            </a:pPr>
            <a:r>
              <a:t>- However, Quantity != Quality. Fighting the trend reduces Sharpe.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[PASTE GRAPHS FROM 'SHORTY' FOLDER]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D: Auto-Calibrated (Stability)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54864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Experiment D: Auto-Calibrated Baseline</a:t>
            </a:r>
          </a:p>
          <a:p>
            <a:pPr>
              <a:spcAft>
                <a:spcPts val="800"/>
              </a:spcAft>
              <a:defRPr sz="1600"/>
            </a:pPr>
            <a:r>
              <a:t>Based on file: 56%.txt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Configuration:</a:t>
            </a:r>
          </a:p>
          <a:p>
            <a:pPr>
              <a:spcAft>
                <a:spcPts val="800"/>
              </a:spcAft>
              <a:defRPr sz="1600"/>
            </a:pPr>
            <a:r>
              <a:t>- Dynamic Median Calibration (Model finds its own zero-point)</a:t>
            </a:r>
          </a:p>
          <a:p>
            <a:pPr>
              <a:spcAft>
                <a:spcPts val="800"/>
              </a:spcAft>
              <a:defRPr sz="1600"/>
            </a:pPr>
            <a:r>
              <a:t>- Dropout: 0.3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Results:</a:t>
            </a:r>
          </a:p>
          <a:p>
            <a:pPr>
              <a:spcAft>
                <a:spcPts val="800"/>
              </a:spcAft>
              <a:defRPr sz="1600"/>
            </a:pPr>
            <a:r>
              <a:t>- Validation Win Rate: 56.32%</a:t>
            </a:r>
          </a:p>
          <a:p>
            <a:pPr>
              <a:spcAft>
                <a:spcPts val="800"/>
              </a:spcAft>
              <a:defRPr sz="1600"/>
            </a:pPr>
            <a:r>
              <a:t>- Sharpe Ratio: 0.94 (Excellent Risk/Reward)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Conclusion: Safe, set-and-forget configuration with no overfitting.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[PASTE GRAPHS FROM '56%' FOLDER]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Challenge: Overcoming Long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54864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The Problem: 'Long Bias'</a:t>
            </a:r>
          </a:p>
          <a:p>
            <a:pPr>
              <a:spcAft>
                <a:spcPts val="800"/>
              </a:spcAft>
              <a:defRPr sz="1600"/>
            </a:pPr>
            <a:r>
              <a:t>- Bitcoin has a historical upward trend (2014-2024).</a:t>
            </a:r>
          </a:p>
          <a:p>
            <a:pPr>
              <a:spcAft>
                <a:spcPts val="800"/>
              </a:spcAft>
              <a:defRPr sz="1600"/>
            </a:pPr>
            <a:r>
              <a:t>- Neural Networks naturally become optimistic (Median Prediction &gt; 0.50).</a:t>
            </a:r>
          </a:p>
          <a:p>
            <a:pPr>
              <a:spcAft>
                <a:spcPts val="800"/>
              </a:spcAft>
              <a:defRPr sz="1600"/>
            </a:pPr>
            <a:r>
              <a:t>- Standard threshold (0.50) results in ZERO Short positions.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Our Solution:</a:t>
            </a:r>
          </a:p>
          <a:p>
            <a:pPr>
              <a:spcAft>
                <a:spcPts val="800"/>
              </a:spcAft>
              <a:defRPr sz="1600"/>
            </a:pPr>
            <a:r>
              <a:t>- Asymmetric Thresholding (Shifted Logic).</a:t>
            </a:r>
          </a:p>
          <a:p>
            <a:pPr>
              <a:spcAft>
                <a:spcPts val="800"/>
              </a:spcAft>
              <a:defRPr sz="1600"/>
            </a:pPr>
            <a:r>
              <a:t>- We manually lowered the Short Threshold (e.g., to &lt;0.48).</a:t>
            </a:r>
          </a:p>
          <a:p>
            <a:pPr>
              <a:spcAft>
                <a:spcPts val="800"/>
              </a:spcAft>
              <a:defRPr sz="1600"/>
            </a:pPr>
            <a:r>
              <a:t>- This forced the model to act on 'relative weakness' rather than absolute downtrends.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[PASTE HISTOGRAM SHOWING SHIFT]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029200" cy="5486400"/>
          </a:xfrm>
        </p:spPr>
        <p:txBody>
          <a:bodyPr/>
          <a:lstStyle/>
          <a:p/>
          <a:p>
            <a:pPr>
              <a:spcAft>
                <a:spcPts val="800"/>
              </a:spcAft>
              <a:defRPr sz="1600"/>
            </a:pPr>
            <a:r>
              <a:t>Summary:</a:t>
            </a:r>
          </a:p>
          <a:p>
            <a:pPr>
              <a:spcAft>
                <a:spcPts val="800"/>
              </a:spcAft>
              <a:defRPr sz="1600"/>
            </a:pPr>
            <a:r>
              <a:t>- Built a Hybrid CNN-LSTM Ensemble that beats random chance (~58% vs 50%).</a:t>
            </a:r>
          </a:p>
          <a:p>
            <a:pPr>
              <a:spcAft>
                <a:spcPts val="800"/>
              </a:spcAft>
              <a:defRPr sz="1600"/>
            </a:pPr>
            <a:r>
              <a:t>- Validated Parim et al.'s thesis on Macro Data importance.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Key Findings:</a:t>
            </a:r>
          </a:p>
          <a:p>
            <a:pPr>
              <a:spcAft>
                <a:spcPts val="800"/>
              </a:spcAft>
              <a:defRPr sz="1600"/>
            </a:pPr>
            <a:r>
              <a:t>- Hyperparameter tuning of Thresholds was more impactful than architecture changes.</a:t>
            </a:r>
          </a:p>
          <a:p>
            <a:pPr>
              <a:spcAft>
                <a:spcPts val="800"/>
              </a:spcAft>
              <a:defRPr sz="1600"/>
            </a:pPr>
            <a:r>
              <a:t>- 'Class Weights' and 'Asymmetric Thresholds' solved the Shorting problem.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Future Work:</a:t>
            </a:r>
          </a:p>
          <a:p>
            <a:pPr>
              <a:spcAft>
                <a:spcPts val="800"/>
              </a:spcAft>
              <a:defRPr sz="1600"/>
            </a:pPr>
            <a:r>
              <a:t>- Implement 'Dual-Core' architecture (Separate Bull/Bear models).</a:t>
            </a:r>
          </a:p>
          <a:p>
            <a:pPr>
              <a:spcAft>
                <a:spcPts val="800"/>
              </a:spcAft>
              <a:defRPr sz="1600"/>
            </a:pPr>
            <a:r>
              <a:t>- Add On-Chain data (Hash Rate, Wallets).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[PASTE FINAL SUMMARY GRAPH]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